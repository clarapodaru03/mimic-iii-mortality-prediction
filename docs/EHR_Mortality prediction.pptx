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Helvetica Neue" panose="02000503000000020004" pitchFamily="2" charset="0"/>
      <p:regular r:id="rId12"/>
      <p:bold r:id="rId13"/>
      <p:italic r:id="rId14"/>
      <p:boldItalic r:id="rId15"/>
    </p:embeddedFont>
    <p:embeddedFont>
      <p:font typeface="Helvetica Neue Light" panose="02000403000000020004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MfFTDc/rB23htYqWhs/BV66i4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Individual oral presentation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Maximum 5 minutes  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987d1919_3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g3bb987d1919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b987d1919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bb987d191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b987d1919_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bb987d1919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b987d1919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bb987d191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b987d1919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bb987d191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210200" y="2387725"/>
            <a:ext cx="9771600" cy="17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Early prediction of in-hospital mortality using routinely collected electronic health record data: an analysis of the MIMIC-III database</a:t>
            </a:r>
            <a:endParaRPr sz="210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196437" y="1333388"/>
            <a:ext cx="11732400" cy="0"/>
          </a:xfrm>
          <a:prstGeom prst="straightConnector1">
            <a:avLst/>
          </a:prstGeom>
          <a:noFill/>
          <a:ln w="952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"/>
          <p:cNvSpPr txBox="1"/>
          <p:nvPr/>
        </p:nvSpPr>
        <p:spPr>
          <a:xfrm>
            <a:off x="486762" y="4860205"/>
            <a:ext cx="1121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Angela Coloma Escudero, Clara Podaru Savu, Albert Garcia Bernat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2" name="Google Shape;92;p1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579" y="248381"/>
            <a:ext cx="1978517" cy="61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descr="Several logos on a white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1568" y="77437"/>
            <a:ext cx="4153088" cy="949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 descr="A blue square with yellow star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6054" y="336046"/>
            <a:ext cx="2658367" cy="431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g3bb987d1919_3_5"/>
          <p:cNvCxnSpPr/>
          <p:nvPr/>
        </p:nvCxnSpPr>
        <p:spPr>
          <a:xfrm>
            <a:off x="196437" y="1313138"/>
            <a:ext cx="11732400" cy="0"/>
          </a:xfrm>
          <a:prstGeom prst="straightConnector1">
            <a:avLst/>
          </a:prstGeom>
          <a:noFill/>
          <a:ln w="952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g3bb987d1919_3_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01" name="Google Shape;101;g3bb987d1919_3_5"/>
          <p:cNvSpPr txBox="1"/>
          <p:nvPr/>
        </p:nvSpPr>
        <p:spPr>
          <a:xfrm>
            <a:off x="196437" y="599771"/>
            <a:ext cx="5781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i="1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Introduction</a:t>
            </a:r>
            <a:endParaRPr/>
          </a:p>
        </p:txBody>
      </p:sp>
      <p:sp>
        <p:nvSpPr>
          <p:cNvPr id="102" name="Google Shape;102;g3bb987d1919_3_5"/>
          <p:cNvSpPr txBox="1">
            <a:spLocks noGrp="1"/>
          </p:cNvSpPr>
          <p:nvPr>
            <p:ph type="body" idx="1"/>
          </p:nvPr>
        </p:nvSpPr>
        <p:spPr>
          <a:xfrm>
            <a:off x="454025" y="1594825"/>
            <a:ext cx="10976700" cy="46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The Challenge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: Predicting mortality is a central task in critical care medicine.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Benefits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: Early risk detection optimizes clinical decisions and resource allocation.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The Problem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: Traditional scores (SOFA, APACHE) can lack flexibility in modern ICU settings.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The Data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: MIMIC-III enables large-scale, reproducible research using real EHR data.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Model Choice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: Interpretable models are essential for clinical trust and adoption.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Aim of the study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To develop and evaluate an interpretable model for in-hospital mortality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Using routinely collected variables from the first 24 hours of ICU admission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bb987d1919_3_5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046" y="203201"/>
            <a:ext cx="1978515" cy="61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3"/>
          <p:cNvCxnSpPr/>
          <p:nvPr/>
        </p:nvCxnSpPr>
        <p:spPr>
          <a:xfrm>
            <a:off x="196437" y="1313138"/>
            <a:ext cx="11732455" cy="0"/>
          </a:xfrm>
          <a:prstGeom prst="straightConnector1">
            <a:avLst/>
          </a:prstGeom>
          <a:noFill/>
          <a:ln w="952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196437" y="599771"/>
            <a:ext cx="578167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i="1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Materials and methods</a:t>
            </a:r>
            <a:endParaRPr/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479096" y="1525805"/>
            <a:ext cx="11233800" cy="46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Data source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Retrospective study using the </a:t>
            </a: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MIMIC-III database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De-identified ICU data from Beth Israel Deaconess Medical Center (2001–2012)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Includes </a:t>
            </a: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demographics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vital signs, laboratory data, diagnoses, and outcomes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Database access granted after ethics training and data use agreement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SQL-based data extraction (documented in Supplementary Notebook S1)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Study population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Adult ICU patients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first ICU admission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per patient included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Patients with </a:t>
            </a: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missing mortality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outcome </a:t>
            </a: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excluded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Retrospective cohort design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Variables collected during the </a:t>
            </a: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first 24 hours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of ICU admission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046" y="203201"/>
            <a:ext cx="1978517" cy="61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g3bb987d1919_0_10"/>
          <p:cNvCxnSpPr/>
          <p:nvPr/>
        </p:nvCxnSpPr>
        <p:spPr>
          <a:xfrm>
            <a:off x="196437" y="1313138"/>
            <a:ext cx="11732400" cy="0"/>
          </a:xfrm>
          <a:prstGeom prst="straightConnector1">
            <a:avLst/>
          </a:prstGeom>
          <a:noFill/>
          <a:ln w="952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8" name="Google Shape;118;g3bb987d1919_0_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119" name="Google Shape;119;g3bb987d1919_0_10"/>
          <p:cNvSpPr txBox="1"/>
          <p:nvPr/>
        </p:nvSpPr>
        <p:spPr>
          <a:xfrm>
            <a:off x="196437" y="599771"/>
            <a:ext cx="5781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i="1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Materials and methods</a:t>
            </a:r>
            <a:endParaRPr/>
          </a:p>
        </p:txBody>
      </p:sp>
      <p:sp>
        <p:nvSpPr>
          <p:cNvPr id="120" name="Google Shape;120;g3bb987d1919_0_10"/>
          <p:cNvSpPr txBox="1">
            <a:spLocks noGrp="1"/>
          </p:cNvSpPr>
          <p:nvPr>
            <p:ph type="body" idx="1"/>
          </p:nvPr>
        </p:nvSpPr>
        <p:spPr>
          <a:xfrm>
            <a:off x="479096" y="1525805"/>
            <a:ext cx="11233800" cy="46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Outcome and predictors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Primary outcome: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in-hospital mortality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Predictors: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Demographics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: age, gender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Vital signs: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heart rate, respiratory rate, mean arterial pressure, temperature, SpO₂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Laboratory variables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: lactate, creatinine, white blood cell count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Mean values used when multiple measurements were available </a:t>
            </a: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within 24h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Variables retained in original scale for clinical interpretability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Data preprocessing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Ages &gt;89 years recoded to 91 years (MIMIC-III guidelines)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Outliers handled using Winsorization (1st–99th percentiles)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Extreme values capped to preserve physiological signal while improving model stability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3bb987d1919_0_10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046" y="203201"/>
            <a:ext cx="1978515" cy="61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g3bb987d1919_4_0"/>
          <p:cNvCxnSpPr/>
          <p:nvPr/>
        </p:nvCxnSpPr>
        <p:spPr>
          <a:xfrm>
            <a:off x="196437" y="1371838"/>
            <a:ext cx="11732400" cy="0"/>
          </a:xfrm>
          <a:prstGeom prst="straightConnector1">
            <a:avLst/>
          </a:prstGeom>
          <a:noFill/>
          <a:ln w="952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" name="Google Shape;127;g3bb987d1919_4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128" name="Google Shape;128;g3bb987d1919_4_0"/>
          <p:cNvSpPr txBox="1"/>
          <p:nvPr/>
        </p:nvSpPr>
        <p:spPr>
          <a:xfrm>
            <a:off x="196437" y="599771"/>
            <a:ext cx="5781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i="1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Statistical analysis </a:t>
            </a:r>
            <a:endParaRPr/>
          </a:p>
        </p:txBody>
      </p:sp>
      <p:sp>
        <p:nvSpPr>
          <p:cNvPr id="129" name="Google Shape;129;g3bb987d1919_4_0"/>
          <p:cNvSpPr txBox="1">
            <a:spLocks noGrp="1"/>
          </p:cNvSpPr>
          <p:nvPr>
            <p:ph type="body" idx="1"/>
          </p:nvPr>
        </p:nvSpPr>
        <p:spPr>
          <a:xfrm>
            <a:off x="281725" y="1606325"/>
            <a:ext cx="5871900" cy="53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Baseline Characteristics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Summarized using descriptive statistics.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Continuous variables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: mean ± SD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Categorical variables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: counts and percentages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Collinearity assessed with Pearson correlation matrix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All variables showed low correlation (r &lt; 0.35) → suitable for multivariate modeling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Model Evaluation &amp; Reproducibility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Data split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70%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training, </a:t>
            </a: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30%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testing (comparable outcome distribution).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Performance metrics: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Area Under the ROC Curve (AUC)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Confusion matrix: sensitivity, specificity, NPV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bb987d1919_4_0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046" y="203201"/>
            <a:ext cx="1978515" cy="61216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bb987d1919_4_0"/>
          <p:cNvSpPr txBox="1"/>
          <p:nvPr/>
        </p:nvSpPr>
        <p:spPr>
          <a:xfrm>
            <a:off x="6068325" y="2265707"/>
            <a:ext cx="5640600" cy="26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</a:rPr>
              <a:t>Modeling Strategy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b="1">
                <a:solidFill>
                  <a:schemeClr val="dk1"/>
                </a:solidFill>
              </a:rPr>
              <a:t>In-hospital mortality</a:t>
            </a:r>
            <a:r>
              <a:rPr lang="en-GB" sz="1600">
                <a:solidFill>
                  <a:schemeClr val="dk1"/>
                </a:solidFill>
              </a:rPr>
              <a:t>: 11% → marked class imbalance.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b="1">
                <a:solidFill>
                  <a:schemeClr val="dk1"/>
                </a:solidFill>
              </a:rPr>
              <a:t>Weighted logistic regression applied</a:t>
            </a:r>
            <a:endParaRPr sz="1600" b="1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Higher weight assigned to non-survivors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Prioritizes sensitivity for early high-risk patient identification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g3bb987d1919_0_51"/>
          <p:cNvCxnSpPr/>
          <p:nvPr/>
        </p:nvCxnSpPr>
        <p:spPr>
          <a:xfrm>
            <a:off x="196437" y="1313138"/>
            <a:ext cx="11732400" cy="0"/>
          </a:xfrm>
          <a:prstGeom prst="straightConnector1">
            <a:avLst/>
          </a:prstGeom>
          <a:noFill/>
          <a:ln w="952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g3bb987d1919_0_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sp>
        <p:nvSpPr>
          <p:cNvPr id="138" name="Google Shape;138;g3bb987d1919_0_51"/>
          <p:cNvSpPr txBox="1"/>
          <p:nvPr/>
        </p:nvSpPr>
        <p:spPr>
          <a:xfrm>
            <a:off x="196437" y="599771"/>
            <a:ext cx="5781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i="1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Results</a:t>
            </a:r>
            <a:endParaRPr/>
          </a:p>
        </p:txBody>
      </p:sp>
      <p:sp>
        <p:nvSpPr>
          <p:cNvPr id="139" name="Google Shape;139;g3bb987d1919_0_51"/>
          <p:cNvSpPr txBox="1">
            <a:spLocks noGrp="1"/>
          </p:cNvSpPr>
          <p:nvPr>
            <p:ph type="body" idx="1"/>
          </p:nvPr>
        </p:nvSpPr>
        <p:spPr>
          <a:xfrm>
            <a:off x="5978025" y="1347300"/>
            <a:ext cx="5294100" cy="49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Cohort overview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 Total sample: 32,000 ICU admissions (first ICU stay per patient).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In-hospital mortality: 10.96% (3,507 deaths).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Independent test set: 9,599 patients, (1,052 deaths out of it).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Key differences at ICU admissions</a:t>
            </a:r>
            <a:br>
              <a:rPr lang="en-GB" sz="1400" b="1"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latin typeface="Arial"/>
                <a:ea typeface="Arial"/>
                <a:cs typeface="Arial"/>
                <a:sym typeface="Arial"/>
              </a:rPr>
              <a:t>Compared with survivors, non-survivors presented a markedly worse early clinical profile: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Demographics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: Older age and higher proportion of females.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Vital signs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↑ Heart Rate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↓ MAP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within first 24h.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Biomarkers: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Significantly </a:t>
            </a: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↑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Lactate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↑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Creatinine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 i="1">
                <a:latin typeface="Arial"/>
                <a:ea typeface="Arial"/>
                <a:cs typeface="Arial"/>
                <a:sym typeface="Arial"/>
              </a:rPr>
              <a:t>Indicates early circulatory and renal dysfunction</a:t>
            </a:r>
            <a:endParaRPr sz="1400" i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Data quality considerations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High Variability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: Respiratory rate and SpO₂ particularly among survivors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EHR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Nature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: Reflects outliers and noise typical of retrospective data.</a:t>
            </a:r>
            <a:endParaRPr sz="31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40" name="Google Shape;140;g3bb987d1919_0_51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046" y="203201"/>
            <a:ext cx="1978515" cy="61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bb987d1919_0_51" title="Captura de pantalla 2026-01-23 a las 18.17.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212" y="1433724"/>
            <a:ext cx="5294024" cy="51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g3bb987d1919_0_42"/>
          <p:cNvCxnSpPr/>
          <p:nvPr/>
        </p:nvCxnSpPr>
        <p:spPr>
          <a:xfrm>
            <a:off x="196437" y="1313138"/>
            <a:ext cx="11732400" cy="0"/>
          </a:xfrm>
          <a:prstGeom prst="straightConnector1">
            <a:avLst/>
          </a:prstGeom>
          <a:noFill/>
          <a:ln w="952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7" name="Google Shape;147;g3bb987d1919_0_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148" name="Google Shape;148;g3bb987d1919_0_42"/>
          <p:cNvSpPr txBox="1"/>
          <p:nvPr/>
        </p:nvSpPr>
        <p:spPr>
          <a:xfrm>
            <a:off x="196437" y="599771"/>
            <a:ext cx="5781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i="1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Results</a:t>
            </a:r>
            <a:endParaRPr/>
          </a:p>
        </p:txBody>
      </p:sp>
      <p:sp>
        <p:nvSpPr>
          <p:cNvPr id="149" name="Google Shape;149;g3bb987d1919_0_42"/>
          <p:cNvSpPr txBox="1">
            <a:spLocks noGrp="1"/>
          </p:cNvSpPr>
          <p:nvPr>
            <p:ph type="body" idx="1"/>
          </p:nvPr>
        </p:nvSpPr>
        <p:spPr>
          <a:xfrm>
            <a:off x="131875" y="1582875"/>
            <a:ext cx="5591100" cy="46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i="1">
                <a:latin typeface="Arial"/>
                <a:ea typeface="Arial"/>
                <a:cs typeface="Arial"/>
                <a:sym typeface="Arial"/>
              </a:rPr>
              <a:t>Multivariate Logistic Regression </a:t>
            </a:r>
            <a:endParaRPr sz="1600" b="1" i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Critical Risk Factors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Lactate: Strongest independent predictor (metabolic dysfunction)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Creatinine: Key marker of early renal impairment.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Physiological trends associated with higher risk: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↑ Age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↑ Heart Rate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↑ Respiratory Rate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Protective Factors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Male sex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Higher body temperature (lower odds of mortality)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Non-Significant Variables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Mean Arterial Pressure (MAP)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SpO2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White Blood Cell (WBC) count.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3bb987d1919_0_42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046" y="203201"/>
            <a:ext cx="1978515" cy="61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bb987d1919_0_42" title="Captura de pantalla 2026-01-23 a las 18.24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6337" y="1469589"/>
            <a:ext cx="5909162" cy="5058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p4"/>
          <p:cNvCxnSpPr/>
          <p:nvPr/>
        </p:nvCxnSpPr>
        <p:spPr>
          <a:xfrm>
            <a:off x="196437" y="1313138"/>
            <a:ext cx="11732455" cy="0"/>
          </a:xfrm>
          <a:prstGeom prst="straightConnector1">
            <a:avLst/>
          </a:prstGeom>
          <a:noFill/>
          <a:ln w="952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196437" y="599771"/>
            <a:ext cx="578167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i="1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Results</a:t>
            </a:r>
            <a:endParaRPr/>
          </a:p>
        </p:txBody>
      </p:sp>
      <p:sp>
        <p:nvSpPr>
          <p:cNvPr id="159" name="Google Shape;159;p4"/>
          <p:cNvSpPr txBox="1">
            <a:spLocks noGrp="1"/>
          </p:cNvSpPr>
          <p:nvPr>
            <p:ph type="body" idx="1"/>
          </p:nvPr>
        </p:nvSpPr>
        <p:spPr>
          <a:xfrm>
            <a:off x="256300" y="1507748"/>
            <a:ext cx="116127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Model performance (n = 9,599)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ROC Cruve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: AUC </a:t>
            </a: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0.73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(Good discrimination).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Confusion Matrix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93.7% NPV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| 61.4% Sensitivity.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Strategy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: Weighed model to minimize False Negatives.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Safety Goal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: Prioritizes detection of high-risk patients.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4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046" y="203201"/>
            <a:ext cx="1978517" cy="61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8000" y="3250250"/>
            <a:ext cx="4175124" cy="347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4" title="Captura de pantalla 2026-01-23 a las 18.26.54.png"/>
          <p:cNvPicPr preferRelativeResize="0"/>
          <p:nvPr/>
        </p:nvPicPr>
        <p:blipFill rotWithShape="1">
          <a:blip r:embed="rId5">
            <a:alphaModFix/>
          </a:blip>
          <a:srcRect t="11260"/>
          <a:stretch/>
        </p:blipFill>
        <p:spPr>
          <a:xfrm>
            <a:off x="6063125" y="3176487"/>
            <a:ext cx="4654000" cy="36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5"/>
          <p:cNvCxnSpPr/>
          <p:nvPr/>
        </p:nvCxnSpPr>
        <p:spPr>
          <a:xfrm>
            <a:off x="196437" y="1313138"/>
            <a:ext cx="11732455" cy="0"/>
          </a:xfrm>
          <a:prstGeom prst="straightConnector1">
            <a:avLst/>
          </a:prstGeom>
          <a:noFill/>
          <a:ln w="9525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196437" y="599771"/>
            <a:ext cx="708128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i="1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Conclusions</a:t>
            </a:r>
            <a:endParaRPr/>
          </a:p>
        </p:txBody>
      </p:sp>
      <p:sp>
        <p:nvSpPr>
          <p:cNvPr id="170" name="Google Shape;170;p5"/>
          <p:cNvSpPr txBox="1">
            <a:spLocks noGrp="1"/>
          </p:cNvSpPr>
          <p:nvPr>
            <p:ph type="body" idx="1"/>
          </p:nvPr>
        </p:nvSpPr>
        <p:spPr>
          <a:xfrm>
            <a:off x="631721" y="1525755"/>
            <a:ext cx="11233800" cy="46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Limitations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Single-center: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MIMIC-III data (retrospective).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Data Quality: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EHR noise (missing values/outliers).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Outcome: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In-hospital vs. ICU-specific mortality.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Validation: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External cohort validation required.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Conclusion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Predictors: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Lactate (1.46)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Creatinine (1.31)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, and Age.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Metrics: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AUC 0.73 | 61% Sens. | </a:t>
            </a: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94% NPV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just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Reliable early-warning tool for ICU risk stratification.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685800" lvl="1" indent="-76200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8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685800" lvl="1" indent="-76200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71" name="Google Shape;171;p5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046" y="203201"/>
            <a:ext cx="1978517" cy="61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Macintosh PowerPoint</Application>
  <PresentationFormat>Panorámica</PresentationFormat>
  <Paragraphs>112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Helvetica Neue Light</vt:lpstr>
      <vt:lpstr>Helvetica Neue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Oliver Díaz</dc:creator>
  <cp:lastModifiedBy>Delia Clara Podaru Savu</cp:lastModifiedBy>
  <cp:revision>1</cp:revision>
  <dcterms:created xsi:type="dcterms:W3CDTF">2022-09-26T08:06:00Z</dcterms:created>
  <dcterms:modified xsi:type="dcterms:W3CDTF">2026-02-01T16:06:07Z</dcterms:modified>
</cp:coreProperties>
</file>